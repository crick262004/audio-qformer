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Roboto Mono" pitchFamily="49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66"/>
  </p:normalViewPr>
  <p:slideViewPr>
    <p:cSldViewPr snapToGrid="0">
      <p:cViewPr varScale="1">
        <p:scale>
          <a:sx n="136" d="100"/>
          <a:sy n="136" d="100"/>
        </p:scale>
        <p:origin x="752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e7eb746e5_0_0:notes"/>
          <p:cNvSpPr txBox="1">
            <a:spLocks noGrp="1"/>
          </p:cNvSpPr>
          <p:nvPr>
            <p:ph type="body" idx="1"/>
          </p:nvPr>
        </p:nvSpPr>
        <p:spPr>
          <a:xfrm>
            <a:off x="686360" y="4400262"/>
            <a:ext cx="5485200" cy="3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9e7eb746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e7eb746e5_0_94:notes"/>
          <p:cNvSpPr txBox="1">
            <a:spLocks noGrp="1"/>
          </p:cNvSpPr>
          <p:nvPr>
            <p:ph type="body" idx="1"/>
          </p:nvPr>
        </p:nvSpPr>
        <p:spPr>
          <a:xfrm>
            <a:off x="686360" y="4400262"/>
            <a:ext cx="5485200" cy="3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9e7eb746e5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67603" y="1143000"/>
            <a:ext cx="53226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e7eb746e5_0_202:notes"/>
          <p:cNvSpPr txBox="1">
            <a:spLocks noGrp="1"/>
          </p:cNvSpPr>
          <p:nvPr>
            <p:ph type="body" idx="1"/>
          </p:nvPr>
        </p:nvSpPr>
        <p:spPr>
          <a:xfrm>
            <a:off x="686360" y="4400262"/>
            <a:ext cx="5485200" cy="3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g39e7eb746e5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e7eb746e5_0_325:notes"/>
          <p:cNvSpPr txBox="1">
            <a:spLocks noGrp="1"/>
          </p:cNvSpPr>
          <p:nvPr>
            <p:ph type="body" idx="1"/>
          </p:nvPr>
        </p:nvSpPr>
        <p:spPr>
          <a:xfrm>
            <a:off x="686360" y="4400262"/>
            <a:ext cx="5485200" cy="3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39e7eb746e5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67603" y="1143000"/>
            <a:ext cx="53226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e7eb746e5_0_220:notes"/>
          <p:cNvSpPr txBox="1">
            <a:spLocks noGrp="1"/>
          </p:cNvSpPr>
          <p:nvPr>
            <p:ph type="body" idx="1"/>
          </p:nvPr>
        </p:nvSpPr>
        <p:spPr>
          <a:xfrm>
            <a:off x="686360" y="4400262"/>
            <a:ext cx="5485200" cy="3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39e7eb746e5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67603" y="1143000"/>
            <a:ext cx="53226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e7eb746e5_0_230:notes"/>
          <p:cNvSpPr txBox="1">
            <a:spLocks noGrp="1"/>
          </p:cNvSpPr>
          <p:nvPr>
            <p:ph type="body" idx="1"/>
          </p:nvPr>
        </p:nvSpPr>
        <p:spPr>
          <a:xfrm>
            <a:off x="686360" y="4400262"/>
            <a:ext cx="5485200" cy="3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9e7eb746e5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e7eb746e5_0_240:notes"/>
          <p:cNvSpPr txBox="1">
            <a:spLocks noGrp="1"/>
          </p:cNvSpPr>
          <p:nvPr>
            <p:ph type="body" idx="1"/>
          </p:nvPr>
        </p:nvSpPr>
        <p:spPr>
          <a:xfrm>
            <a:off x="686360" y="4400262"/>
            <a:ext cx="5485200" cy="3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9e7eb746e5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67603" y="1143000"/>
            <a:ext cx="53226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e7eb746e5_0_252:notes"/>
          <p:cNvSpPr txBox="1">
            <a:spLocks noGrp="1"/>
          </p:cNvSpPr>
          <p:nvPr>
            <p:ph type="body" idx="1"/>
          </p:nvPr>
        </p:nvSpPr>
        <p:spPr>
          <a:xfrm>
            <a:off x="686360" y="4400262"/>
            <a:ext cx="5485200" cy="3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9e7eb746e5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e7eb746e5_0_285:notes"/>
          <p:cNvSpPr txBox="1">
            <a:spLocks noGrp="1"/>
          </p:cNvSpPr>
          <p:nvPr>
            <p:ph type="body" idx="1"/>
          </p:nvPr>
        </p:nvSpPr>
        <p:spPr>
          <a:xfrm>
            <a:off x="686360" y="4400262"/>
            <a:ext cx="5485200" cy="3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9e7eb746e5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ed89e8da6_0_16:notes"/>
          <p:cNvSpPr txBox="1">
            <a:spLocks noGrp="1"/>
          </p:cNvSpPr>
          <p:nvPr>
            <p:ph type="body" idx="1"/>
          </p:nvPr>
        </p:nvSpPr>
        <p:spPr>
          <a:xfrm>
            <a:off x="686360" y="4400262"/>
            <a:ext cx="5485200" cy="3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aed89e8da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67603" y="1143000"/>
            <a:ext cx="53226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e7eb746e5_0_297:notes"/>
          <p:cNvSpPr txBox="1">
            <a:spLocks noGrp="1"/>
          </p:cNvSpPr>
          <p:nvPr>
            <p:ph type="body" idx="1"/>
          </p:nvPr>
        </p:nvSpPr>
        <p:spPr>
          <a:xfrm>
            <a:off x="686360" y="4400262"/>
            <a:ext cx="5485200" cy="3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9e7eb746e5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67603" y="1143000"/>
            <a:ext cx="53226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2895600" y="4572000"/>
            <a:ext cx="2895600" cy="570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0" y="4572000"/>
            <a:ext cx="2895600" cy="570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5791200" y="4572000"/>
            <a:ext cx="2895600" cy="57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2514600" y="4057650"/>
            <a:ext cx="60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2514600" y="2857500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57" name="Google Shape;57;p1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b="28591"/>
          <a:stretch/>
        </p:blipFill>
        <p:spPr>
          <a:xfrm>
            <a:off x="76200" y="2514600"/>
            <a:ext cx="2057400" cy="14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-76200" y="3943350"/>
            <a:ext cx="2209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GB" sz="2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100"/>
          </a:p>
        </p:txBody>
      </p:sp>
      <p:sp>
        <p:nvSpPr>
          <p:cNvPr id="59" name="Google Shape;59;p13"/>
          <p:cNvSpPr txBox="1"/>
          <p:nvPr/>
        </p:nvSpPr>
        <p:spPr>
          <a:xfrm>
            <a:off x="152400" y="4249951"/>
            <a:ext cx="1905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l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/>
          <p:cNvGrpSpPr/>
          <p:nvPr/>
        </p:nvGrpSpPr>
        <p:grpSpPr>
          <a:xfrm>
            <a:off x="2083888" y="4913004"/>
            <a:ext cx="7060186" cy="36451"/>
            <a:chOff x="2083888" y="6550671"/>
            <a:chExt cx="7060186" cy="48601"/>
          </a:xfrm>
        </p:grpSpPr>
        <p:sp>
          <p:nvSpPr>
            <p:cNvPr id="65" name="Google Shape;65;p14"/>
            <p:cNvSpPr/>
            <p:nvPr/>
          </p:nvSpPr>
          <p:spPr>
            <a:xfrm>
              <a:off x="4630476" y="6550672"/>
              <a:ext cx="2328600" cy="48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6907874" y="6550671"/>
              <a:ext cx="2236200" cy="45600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2083888" y="6550672"/>
              <a:ext cx="2580600" cy="48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8" name="Google Shape;68;p14" descr="Picture 7.png"/>
          <p:cNvPicPr preferRelativeResize="0"/>
          <p:nvPr/>
        </p:nvPicPr>
        <p:blipFill rotWithShape="1">
          <a:blip r:embed="rId2">
            <a:alphaModFix/>
          </a:blip>
          <a:srcRect l="1922" b="5338"/>
          <a:stretch/>
        </p:blipFill>
        <p:spPr>
          <a:xfrm>
            <a:off x="6629401" y="-1"/>
            <a:ext cx="2193193" cy="5195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14"/>
          <p:cNvGrpSpPr/>
          <p:nvPr/>
        </p:nvGrpSpPr>
        <p:grpSpPr>
          <a:xfrm>
            <a:off x="2133600" y="4914901"/>
            <a:ext cx="7010409" cy="34200"/>
            <a:chOff x="1905000" y="6553200"/>
            <a:chExt cx="7010409" cy="45600"/>
          </a:xfrm>
        </p:grpSpPr>
        <p:sp>
          <p:nvSpPr>
            <p:cNvPr id="70" name="Google Shape;70;p14"/>
            <p:cNvSpPr/>
            <p:nvPr/>
          </p:nvSpPr>
          <p:spPr>
            <a:xfrm>
              <a:off x="4267200" y="6553200"/>
              <a:ext cx="2328600" cy="45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1905000" y="6553200"/>
              <a:ext cx="2362200" cy="45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6586809" y="6553200"/>
              <a:ext cx="2328600" cy="45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14"/>
          <p:cNvGrpSpPr/>
          <p:nvPr/>
        </p:nvGrpSpPr>
        <p:grpSpPr>
          <a:xfrm>
            <a:off x="0" y="971551"/>
            <a:ext cx="7010409" cy="34200"/>
            <a:chOff x="1905000" y="6553200"/>
            <a:chExt cx="7010409" cy="45600"/>
          </a:xfrm>
        </p:grpSpPr>
        <p:sp>
          <p:nvSpPr>
            <p:cNvPr id="74" name="Google Shape;74;p14"/>
            <p:cNvSpPr/>
            <p:nvPr/>
          </p:nvSpPr>
          <p:spPr>
            <a:xfrm>
              <a:off x="4267200" y="6553200"/>
              <a:ext cx="2328600" cy="45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1905000" y="6553200"/>
              <a:ext cx="2362200" cy="45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6586809" y="6553200"/>
              <a:ext cx="2328600" cy="45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14"/>
          <p:cNvSpPr txBox="1">
            <a:spLocks noGrp="1"/>
          </p:cNvSpPr>
          <p:nvPr>
            <p:ph type="body" idx="1"/>
          </p:nvPr>
        </p:nvSpPr>
        <p:spPr>
          <a:xfrm>
            <a:off x="304800" y="114300"/>
            <a:ext cx="632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0" y="4915542"/>
            <a:ext cx="91440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8861" y="4915541"/>
            <a:ext cx="91353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70000" lnSpcReduction="20000"/>
          </a:bodyPr>
          <a:lstStyle>
            <a:lvl1pPr marL="0" marR="0" lvl="0" indent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7RaeWrJuEJrq9j-AcIMHT92z9uap97iV/view?usp=shari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/>
        </p:nvSpPr>
        <p:spPr>
          <a:xfrm>
            <a:off x="2095400" y="3798900"/>
            <a:ext cx="47436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</a:rPr>
              <a:t> </a:t>
            </a:r>
            <a:r>
              <a:rPr lang="en-GB" sz="1400">
                <a:solidFill>
                  <a:srgbClr val="FFFFFF"/>
                </a:solidFill>
              </a:rPr>
              <a:t>NAME(ID): ARNA</a:t>
            </a:r>
            <a:r>
              <a:rPr lang="en-GB">
                <a:solidFill>
                  <a:srgbClr val="FFFFFF"/>
                </a:solidFill>
              </a:rPr>
              <a:t>V</a:t>
            </a:r>
            <a:r>
              <a:rPr lang="en-GB" sz="1400">
                <a:solidFill>
                  <a:srgbClr val="FFFFFF"/>
                </a:solidFill>
              </a:rPr>
              <a:t> GUPTA (2022A1PS1189P)</a:t>
            </a:r>
            <a:endParaRPr sz="1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400">
                <a:solidFill>
                  <a:srgbClr val="FFFFFF"/>
                </a:solidFill>
              </a:rPr>
            </a:br>
            <a:r>
              <a:rPr lang="en-GB" sz="1400">
                <a:solidFill>
                  <a:srgbClr val="FFFFFF"/>
                </a:solidFill>
              </a:rPr>
              <a:t>Supervisor  :  Dr. </a:t>
            </a:r>
            <a:r>
              <a:rPr lang="en-GB">
                <a:solidFill>
                  <a:srgbClr val="FFFFFF"/>
                </a:solidFill>
              </a:rPr>
              <a:t>Vinti</a:t>
            </a:r>
            <a:r>
              <a:rPr lang="en-GB" sz="1400">
                <a:solidFill>
                  <a:srgbClr val="FFFFFF"/>
                </a:solidFill>
              </a:rPr>
              <a:t> </a:t>
            </a:r>
            <a:r>
              <a:rPr lang="en-GB">
                <a:solidFill>
                  <a:srgbClr val="FFFFFF"/>
                </a:solidFill>
              </a:rPr>
              <a:t>Agarwal</a:t>
            </a:r>
            <a:endParaRPr sz="15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FFFF"/>
                </a:solidFill>
              </a:rPr>
              <a:t>Department of CSIS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2095399" y="2628900"/>
            <a:ext cx="5981700" cy="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</a:rPr>
              <a:t>TITLE</a:t>
            </a:r>
            <a:r>
              <a:rPr lang="en-GB" sz="1700">
                <a:solidFill>
                  <a:schemeClr val="lt1"/>
                </a:solidFill>
              </a:rPr>
              <a:t>: </a:t>
            </a:r>
            <a:r>
              <a:rPr lang="en-GB" sz="1600" b="1">
                <a:solidFill>
                  <a:schemeClr val="lt1"/>
                </a:solidFill>
              </a:rPr>
              <a:t>Bridge &amp; Align: A Q-Former Based Audio-LLM Bridge for Multilingual ASR</a:t>
            </a:r>
            <a:br>
              <a:rPr lang="en-GB" sz="1600" b="1">
                <a:solidFill>
                  <a:schemeClr val="lt1"/>
                </a:solidFill>
              </a:rPr>
            </a:br>
            <a:r>
              <a:rPr lang="en-GB" sz="1600" b="1">
                <a:solidFill>
                  <a:schemeClr val="lt1"/>
                </a:solidFill>
              </a:rPr>
              <a:t>										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6928776" y="0"/>
            <a:ext cx="1786200" cy="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87" name="Google Shape;87;p15"/>
          <p:cNvSpPr txBox="1"/>
          <p:nvPr/>
        </p:nvSpPr>
        <p:spPr>
          <a:xfrm>
            <a:off x="7126800" y="3256075"/>
            <a:ext cx="1310700" cy="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600" b="1" dirty="0">
                <a:solidFill>
                  <a:schemeClr val="lt1"/>
                </a:solidFill>
                <a:hlinkClick r:id="rId3"/>
              </a:rPr>
              <a:t>Paper</a:t>
            </a:r>
            <a:r>
              <a:rPr lang="en-GB" sz="1600" b="1" dirty="0">
                <a:solidFill>
                  <a:schemeClr val="lt1"/>
                </a:solidFill>
              </a:rPr>
              <a:t> Link</a:t>
            </a: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body" idx="1"/>
          </p:nvPr>
        </p:nvSpPr>
        <p:spPr>
          <a:xfrm>
            <a:off x="304800" y="114300"/>
            <a:ext cx="632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700"/>
              <a:buNone/>
            </a:pPr>
            <a:r>
              <a:rPr lang="en-GB"/>
              <a:t>The Problem: The Modality Gap</a:t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304800" y="1224649"/>
            <a:ext cx="7875900" cy="37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The Context: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LLMs (LLaMA, GPT) are experts at text reasoning.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Audio Encoders (SeamlessM4T) are experts at hearing.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The Challenge: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They speak different languages: Continuous Vectors (Audio) vs. Discrete Tokens (Text).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Directly connecting them destroys the LLM's pre-trained knowledge ("Catastrophic Forgetting").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Our Goal: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Build a "Bridge" that translates audio features into text prompts without re-training the heavy models.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body" idx="1"/>
          </p:nvPr>
        </p:nvSpPr>
        <p:spPr>
          <a:xfrm>
            <a:off x="304800" y="114300"/>
            <a:ext cx="632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700"/>
              <a:buNone/>
            </a:pPr>
            <a:r>
              <a:rPr lang="en-GB"/>
              <a:t>Proposed Architecture (Bridge &amp; Align)</a:t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430150" y="1209675"/>
            <a:ext cx="8656800" cy="18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Core Philosophy:</a:t>
            </a:r>
            <a:r>
              <a:rPr lang="en-GB">
                <a:solidFill>
                  <a:schemeClr val="dk1"/>
                </a:solidFill>
              </a:rPr>
              <a:t> Keep the giants frozen.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b="1">
                <a:solidFill>
                  <a:schemeClr val="dk1"/>
                </a:solidFill>
              </a:rPr>
              <a:t>Audio Encoder (Frozen):</a:t>
            </a:r>
            <a:r>
              <a:rPr lang="en-GB">
                <a:solidFill>
                  <a:schemeClr val="dk1"/>
                </a:solidFill>
              </a:rPr>
              <a:t> SeamlessM4T-Medium. Extracts rich acoustic features.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b="1">
                <a:solidFill>
                  <a:schemeClr val="dk1"/>
                </a:solidFill>
              </a:rPr>
              <a:t>The Bridge (Trainable):</a:t>
            </a:r>
            <a:r>
              <a:rPr lang="en-GB">
                <a:solidFill>
                  <a:schemeClr val="dk1"/>
                </a:solidFill>
              </a:rPr>
              <a:t> Q-Former (Query Transformer). Compresses variable-length audio into fixed-length query vectors.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b="1">
                <a:solidFill>
                  <a:schemeClr val="dk1"/>
                </a:solidFill>
              </a:rPr>
              <a:t>LLM (Frozen):</a:t>
            </a:r>
            <a:r>
              <a:rPr lang="en-GB">
                <a:solidFill>
                  <a:schemeClr val="dk1"/>
                </a:solidFill>
              </a:rPr>
              <a:t> Vicuna-7B (LLaMA). Generates the final transcript.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614500" y="3150075"/>
            <a:ext cx="81627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</a:rPr>
              <a:t>Transcript Pipeline: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Audio Input -&gt; SeamlessM4T Encoder -&gt; Q-Former -&gt; Projector -&gt; LLM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304800" y="114300"/>
            <a:ext cx="632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700"/>
              <a:buNone/>
            </a:pPr>
            <a:r>
              <a:rPr lang="en-GB"/>
              <a:t>Dataset &amp; Preprocessing</a:t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251200" y="1182775"/>
            <a:ext cx="8813400" cy="2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Total Data:</a:t>
            </a:r>
            <a:r>
              <a:rPr lang="en-GB">
                <a:solidFill>
                  <a:schemeClr val="dk1"/>
                </a:solidFill>
              </a:rPr>
              <a:t> ~2,684 Hours of Speech.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Composition: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-GB" b="1">
                <a:solidFill>
                  <a:schemeClr val="dk1"/>
                </a:solidFill>
              </a:rPr>
              <a:t>English:</a:t>
            </a:r>
            <a:r>
              <a:rPr lang="en-GB">
                <a:solidFill>
                  <a:schemeClr val="dk1"/>
                </a:solidFill>
              </a:rPr>
              <a:t> LibriSpeech (1,000 hrs).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-GB" b="1">
                <a:solidFill>
                  <a:schemeClr val="dk1"/>
                </a:solidFill>
              </a:rPr>
              <a:t>Indic:</a:t>
            </a:r>
            <a:r>
              <a:rPr lang="en-GB">
                <a:solidFill>
                  <a:schemeClr val="dk1"/>
                </a:solidFill>
              </a:rPr>
              <a:t> AI4Bharat Kathbath (~1,684 hrs) covering Hindi, Marathi, Tamil, Telugu, Bengali, Gujarati.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Preprocessing Pipeline: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-GB" b="1">
                <a:solidFill>
                  <a:schemeClr val="dk1"/>
                </a:solidFill>
              </a:rPr>
              <a:t>Instruction Tuning:</a:t>
            </a:r>
            <a:r>
              <a:rPr lang="en-GB">
                <a:solidFill>
                  <a:schemeClr val="dk1"/>
                </a:solidFill>
              </a:rPr>
              <a:t> Changed prompts from "Summarize this" to "Transcribe this audio".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-GB" b="1">
                <a:solidFill>
                  <a:schemeClr val="dk1"/>
                </a:solidFill>
              </a:rPr>
              <a:t>Engineering Fix:</a:t>
            </a:r>
            <a:r>
              <a:rPr lang="en-GB">
                <a:solidFill>
                  <a:schemeClr val="dk1"/>
                </a:solidFill>
              </a:rPr>
              <a:t> Developed "Watchdog" scripts to unzip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.tar</a:t>
            </a:r>
            <a:r>
              <a:rPr lang="en-GB">
                <a:solidFill>
                  <a:schemeClr val="dk1"/>
                </a:solidFill>
              </a:rPr>
              <a:t> files and immediately delete raw archives (Saved 250GB disk space).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body" idx="1"/>
          </p:nvPr>
        </p:nvSpPr>
        <p:spPr>
          <a:xfrm>
            <a:off x="304800" y="114300"/>
            <a:ext cx="632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None/>
            </a:pPr>
            <a:r>
              <a:rPr lang="en-GB" sz="2300">
                <a:solidFill>
                  <a:schemeClr val="dk1"/>
                </a:solidFill>
              </a:rPr>
              <a:t>Training Objectives (The 3 Losses)</a:t>
            </a:r>
            <a:endParaRPr sz="3700"/>
          </a:p>
        </p:txBody>
      </p:sp>
      <p:sp>
        <p:nvSpPr>
          <p:cNvPr id="112" name="Google Shape;112;p19"/>
          <p:cNvSpPr txBox="1"/>
          <p:nvPr/>
        </p:nvSpPr>
        <p:spPr>
          <a:xfrm>
            <a:off x="304800" y="1309861"/>
            <a:ext cx="7875900" cy="3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1. Contrastive Loss (InfoNCE):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Pulls audio and text representations together in latent space.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Uses in-batch negatives to distinguish matching pairs from non-matching ones.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2. Binary Matching Loss: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A simple Yes/No classifier: "Does this audio match this text?"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3. Language Modeling (LM) Loss: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Standard Cross-Entropy loss.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Forces the Q-Former to generate vectors that the LLM understands as valid language.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304800" y="114300"/>
            <a:ext cx="6629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700"/>
              <a:buNone/>
            </a:pPr>
            <a:r>
              <a:rPr lang="en-GB"/>
              <a:t>Infrastructure Evolution (The Engineering Journey)</a:t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233125" y="1279400"/>
            <a:ext cx="7345800" cy="3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Phase 1: Single Node Struggle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Setup:</a:t>
            </a:r>
            <a:r>
              <a:rPr lang="en-GB">
                <a:solidFill>
                  <a:schemeClr val="dk1"/>
                </a:solidFill>
              </a:rPr>
              <a:t> 1 GPU, Batch Size = 1.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Bottleneck:</a:t>
            </a:r>
            <a:r>
              <a:rPr lang="en-GB">
                <a:solidFill>
                  <a:schemeClr val="dk1"/>
                </a:solidFill>
              </a:rPr>
              <a:t> Massive OOM (Out of Memory) errors; GPU utilization &lt; 30%.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Time:</a:t>
            </a:r>
            <a:r>
              <a:rPr lang="en-GB">
                <a:solidFill>
                  <a:schemeClr val="dk1"/>
                </a:solidFill>
              </a:rPr>
              <a:t> 6 days per epoch!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Phase 2: The Cluster (SLURM)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Setup:</a:t>
            </a:r>
            <a:r>
              <a:rPr lang="en-GB">
                <a:solidFill>
                  <a:schemeClr val="dk1"/>
                </a:solidFill>
              </a:rPr>
              <a:t> 2 Nodes $\times$ 2 GPUs (4 GPUs total).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Tools: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rgbClr val="188038"/>
                </a:solidFill>
              </a:rPr>
              <a:t>accelerate</a:t>
            </a:r>
            <a:r>
              <a:rPr lang="en-GB">
                <a:solidFill>
                  <a:schemeClr val="dk1"/>
                </a:solidFill>
              </a:rPr>
              <a:t> for distributed training, Gradient Accumulation.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Result:</a:t>
            </a:r>
            <a:r>
              <a:rPr lang="en-GB">
                <a:solidFill>
                  <a:schemeClr val="dk1"/>
                </a:solidFill>
              </a:rPr>
              <a:t> Reduced time to </a:t>
            </a:r>
            <a:r>
              <a:rPr lang="en-GB" b="1">
                <a:solidFill>
                  <a:schemeClr val="dk1"/>
                </a:solidFill>
              </a:rPr>
              <a:t>12 hours per epoch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Stability:</a:t>
            </a:r>
            <a:r>
              <a:rPr lang="en-GB">
                <a:solidFill>
                  <a:schemeClr val="dk1"/>
                </a:solidFill>
              </a:rPr>
              <a:t> Used </a:t>
            </a:r>
            <a:r>
              <a:rPr lang="en-GB">
                <a:solidFill>
                  <a:srgbClr val="188038"/>
                </a:solidFill>
              </a:rPr>
              <a:t>tmux</a:t>
            </a:r>
            <a:r>
              <a:rPr lang="en-GB">
                <a:solidFill>
                  <a:schemeClr val="dk1"/>
                </a:solidFill>
              </a:rPr>
              <a:t> + SSH tunneling to monitor training without network drops.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>
            <a:spLocks noGrp="1"/>
          </p:cNvSpPr>
          <p:nvPr>
            <p:ph type="body" idx="1"/>
          </p:nvPr>
        </p:nvSpPr>
        <p:spPr>
          <a:xfrm>
            <a:off x="304800" y="114300"/>
            <a:ext cx="579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700"/>
              <a:buNone/>
            </a:pPr>
            <a:r>
              <a:rPr lang="en-GB"/>
              <a:t>Quantitative Results</a:t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66675" y="1152525"/>
            <a:ext cx="7123200" cy="17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Metric:</a:t>
            </a:r>
            <a:r>
              <a:rPr lang="en-GB">
                <a:solidFill>
                  <a:schemeClr val="dk1"/>
                </a:solidFill>
              </a:rPr>
              <a:t> Perplexity (Lower is better).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Improvement: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Initial:</a:t>
            </a:r>
            <a:r>
              <a:rPr lang="en-GB">
                <a:solidFill>
                  <a:schemeClr val="dk1"/>
                </a:solidFill>
              </a:rPr>
              <a:t> Loss ~4.92 (Perplexity ~137.7).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Final (Epoch 13):</a:t>
            </a:r>
            <a:r>
              <a:rPr lang="en-GB">
                <a:solidFill>
                  <a:schemeClr val="dk1"/>
                </a:solidFill>
              </a:rPr>
              <a:t> Loss </a:t>
            </a:r>
            <a:r>
              <a:rPr lang="en-GB" b="1">
                <a:solidFill>
                  <a:schemeClr val="dk1"/>
                </a:solidFill>
              </a:rPr>
              <a:t>0.9108</a:t>
            </a:r>
            <a:r>
              <a:rPr lang="en-GB">
                <a:solidFill>
                  <a:schemeClr val="dk1"/>
                </a:solidFill>
              </a:rPr>
              <a:t> (Perplexity ~2.48).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>
            <a:spLocks noGrp="1"/>
          </p:cNvSpPr>
          <p:nvPr>
            <p:ph type="body" idx="1"/>
          </p:nvPr>
        </p:nvSpPr>
        <p:spPr>
          <a:xfrm>
            <a:off x="304800" y="114300"/>
            <a:ext cx="579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700"/>
              <a:buNone/>
            </a:pPr>
            <a:r>
              <a:rPr lang="en-GB"/>
              <a:t>Qualitative Analysis - Phase 1 Failure</a:t>
            </a:r>
            <a:endParaRPr/>
          </a:p>
        </p:txBody>
      </p:sp>
      <p:sp>
        <p:nvSpPr>
          <p:cNvPr id="130" name="Google Shape;130;p22"/>
          <p:cNvSpPr txBox="1"/>
          <p:nvPr/>
        </p:nvSpPr>
        <p:spPr>
          <a:xfrm>
            <a:off x="66675" y="1152525"/>
            <a:ext cx="259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800">
              <a:solidFill>
                <a:schemeClr val="dk1"/>
              </a:solidFill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563300" y="1290475"/>
            <a:ext cx="7599600" cy="3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The "Repetition" Loop (Model Collapse):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In early epochs, the bridge wasn't working. The LLM ignored the audio and just predicted high-probability tokens.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Example (Gujarati Input):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 i="1">
                <a:solidFill>
                  <a:schemeClr val="dk1"/>
                </a:solidFill>
              </a:rPr>
              <a:t>Ref:</a:t>
            </a:r>
            <a:r>
              <a:rPr lang="en-GB">
                <a:solidFill>
                  <a:schemeClr val="dk1"/>
                </a:solidFill>
              </a:rPr>
              <a:t> "They are ordinary postmen..."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 i="1">
                <a:solidFill>
                  <a:schemeClr val="dk1"/>
                </a:solidFill>
              </a:rPr>
              <a:t>Pred:</a:t>
            </a:r>
            <a:r>
              <a:rPr lang="en-GB">
                <a:solidFill>
                  <a:schemeClr val="dk1"/>
                </a:solidFill>
              </a:rPr>
              <a:t> "a problem. The solution was to be a problem. The solution was to be a problem..."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Lesson:</a:t>
            </a:r>
            <a:r>
              <a:rPr lang="en-GB">
                <a:solidFill>
                  <a:schemeClr val="dk1"/>
                </a:solidFill>
              </a:rPr>
              <a:t> The Q-Former needed more aggressive contrastive learning to force alignment.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>
            <a:spLocks noGrp="1"/>
          </p:cNvSpPr>
          <p:nvPr>
            <p:ph type="body" idx="1"/>
          </p:nvPr>
        </p:nvSpPr>
        <p:spPr>
          <a:xfrm>
            <a:off x="304800" y="114300"/>
            <a:ext cx="579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700"/>
              <a:buNone/>
            </a:pPr>
            <a:r>
              <a:rPr lang="en-GB"/>
              <a:t>Qualitative Analysis - Phase 2 Success &amp; Bias</a:t>
            </a:r>
            <a:endParaRPr/>
          </a:p>
        </p:txBody>
      </p:sp>
      <p:sp>
        <p:nvSpPr>
          <p:cNvPr id="137" name="Google Shape;137;p23"/>
          <p:cNvSpPr txBox="1"/>
          <p:nvPr/>
        </p:nvSpPr>
        <p:spPr>
          <a:xfrm>
            <a:off x="66675" y="1152525"/>
            <a:ext cx="259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800">
              <a:solidFill>
                <a:schemeClr val="dk1"/>
              </a:solidFill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123825" y="1323975"/>
            <a:ext cx="8489700" cy="27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</a:rPr>
              <a:t>English (LibriSpeech):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i="1">
                <a:solidFill>
                  <a:schemeClr val="dk1"/>
                </a:solidFill>
              </a:rPr>
              <a:t>Ref:</a:t>
            </a:r>
            <a:r>
              <a:rPr lang="en-GB">
                <a:solidFill>
                  <a:schemeClr val="dk1"/>
                </a:solidFill>
              </a:rPr>
              <a:t> "The quick brown fox jumps over the lazy dog."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i="1">
                <a:solidFill>
                  <a:schemeClr val="dk1"/>
                </a:solidFill>
              </a:rPr>
              <a:t>Pred:</a:t>
            </a:r>
            <a:r>
              <a:rPr lang="en-GB">
                <a:solidFill>
                  <a:schemeClr val="dk1"/>
                </a:solidFill>
              </a:rPr>
              <a:t> "The quick brown fox jumps over the lazy dog." (Perfect Match)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</a:rPr>
              <a:t>Indic (Kathbath):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i="1">
                <a:solidFill>
                  <a:schemeClr val="dk1"/>
                </a:solidFill>
              </a:rPr>
              <a:t>Ref (Marathi):</a:t>
            </a:r>
            <a:r>
              <a:rPr lang="en-GB">
                <a:solidFill>
                  <a:schemeClr val="dk1"/>
                </a:solidFill>
              </a:rPr>
              <a:t> "Dharampur is a village in Maharashtra..."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i="1">
                <a:solidFill>
                  <a:schemeClr val="dk1"/>
                </a:solidFill>
              </a:rPr>
              <a:t>Pred:</a:t>
            </a:r>
            <a:r>
              <a:rPr lang="en-GB">
                <a:solidFill>
                  <a:schemeClr val="dk1"/>
                </a:solidFill>
              </a:rPr>
              <a:t> "You are in some kind of trouble..."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</a:rPr>
              <a:t>Observation:</a:t>
            </a:r>
            <a:r>
              <a:rPr lang="en-GB">
                <a:solidFill>
                  <a:schemeClr val="dk1"/>
                </a:solidFill>
              </a:rPr>
              <a:t> The model learned the </a:t>
            </a:r>
            <a:r>
              <a:rPr lang="en-GB" b="1">
                <a:solidFill>
                  <a:schemeClr val="dk1"/>
                </a:solidFill>
              </a:rPr>
              <a:t>syntax</a:t>
            </a:r>
            <a:r>
              <a:rPr lang="en-GB">
                <a:solidFill>
                  <a:schemeClr val="dk1"/>
                </a:solidFill>
              </a:rPr>
              <a:t> (correct Marathi script/grammar) but missed the </a:t>
            </a:r>
            <a:r>
              <a:rPr lang="en-GB" b="1">
                <a:solidFill>
                  <a:schemeClr val="dk1"/>
                </a:solidFill>
              </a:rPr>
              <a:t>semantics</a:t>
            </a:r>
            <a:r>
              <a:rPr lang="en-GB">
                <a:solidFill>
                  <a:schemeClr val="dk1"/>
                </a:solidFill>
              </a:rPr>
              <a:t> (wrong meaning). This is a known "Hallucination" issue in frozen LLMs for low-resource languages.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>
            <a:spLocks noGrp="1"/>
          </p:cNvSpPr>
          <p:nvPr>
            <p:ph type="body" idx="1"/>
          </p:nvPr>
        </p:nvSpPr>
        <p:spPr>
          <a:xfrm>
            <a:off x="304800" y="114300"/>
            <a:ext cx="579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700"/>
              <a:buNone/>
            </a:pPr>
            <a:r>
              <a:rPr lang="en-GB"/>
              <a:t>Conclusion &amp; Future Work</a:t>
            </a:r>
            <a:endParaRPr/>
          </a:p>
        </p:txBody>
      </p:sp>
      <p:sp>
        <p:nvSpPr>
          <p:cNvPr id="144" name="Google Shape;144;p24"/>
          <p:cNvSpPr txBox="1"/>
          <p:nvPr/>
        </p:nvSpPr>
        <p:spPr>
          <a:xfrm>
            <a:off x="66675" y="1152525"/>
            <a:ext cx="259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800">
              <a:solidFill>
                <a:schemeClr val="dk1"/>
              </a:solidFill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123825" y="1323975"/>
            <a:ext cx="8489700" cy="2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Summary: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-GB">
                <a:solidFill>
                  <a:schemeClr val="dk1"/>
                </a:solidFill>
              </a:rPr>
              <a:t>Successfully built a stable Audio-LLM bridge.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-GB">
                <a:solidFill>
                  <a:schemeClr val="dk1"/>
                </a:solidFill>
              </a:rPr>
              <a:t>Solved critical engineering bottlenecks (OOM, Storage) to scale to multi-node training.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-GB">
                <a:solidFill>
                  <a:schemeClr val="dk1"/>
                </a:solidFill>
              </a:rPr>
              <a:t>Achieved stable convergence (Loss 0.91).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Future Steps: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-GB" b="1">
                <a:solidFill>
                  <a:schemeClr val="dk1"/>
                </a:solidFill>
              </a:rPr>
              <a:t>Stage 2 Training:</a:t>
            </a:r>
            <a:r>
              <a:rPr lang="en-GB">
                <a:solidFill>
                  <a:schemeClr val="dk1"/>
                </a:solidFill>
              </a:rPr>
              <a:t> Unfreeze the LLM using </a:t>
            </a:r>
            <a:r>
              <a:rPr lang="en-GB" b="1">
                <a:solidFill>
                  <a:schemeClr val="dk1"/>
                </a:solidFill>
              </a:rPr>
              <a:t>LoRA</a:t>
            </a:r>
            <a:r>
              <a:rPr lang="en-GB">
                <a:solidFill>
                  <a:schemeClr val="dk1"/>
                </a:solidFill>
              </a:rPr>
              <a:t> (Low-Rank Adaptation) to fix Indic hallucinations.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-GB" b="1">
                <a:solidFill>
                  <a:schemeClr val="dk1"/>
                </a:solidFill>
              </a:rPr>
              <a:t>Optimization:</a:t>
            </a:r>
            <a:r>
              <a:rPr lang="en-GB">
                <a:solidFill>
                  <a:schemeClr val="dk1"/>
                </a:solidFill>
              </a:rPr>
              <a:t> Implement Flash Attention to reduce VRAM usage further.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>
            <a:spLocks noGrp="1"/>
          </p:cNvSpPr>
          <p:nvPr>
            <p:ph type="body" idx="1"/>
          </p:nvPr>
        </p:nvSpPr>
        <p:spPr>
          <a:xfrm>
            <a:off x="304800" y="114300"/>
            <a:ext cx="579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700"/>
              <a:buNone/>
            </a:pPr>
            <a:r>
              <a:rPr lang="en-GB"/>
              <a:t>Q&amp;A and Thanks</a:t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66675" y="1152525"/>
            <a:ext cx="259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768</Words>
  <Application>Microsoft Macintosh PowerPoint</Application>
  <PresentationFormat>On-screen Show (16:9)</PresentationFormat>
  <Paragraphs>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Roboto Mono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ARNAV  GUPTA</cp:lastModifiedBy>
  <cp:revision>2</cp:revision>
  <dcterms:modified xsi:type="dcterms:W3CDTF">2025-12-12T08:34:24Z</dcterms:modified>
</cp:coreProperties>
</file>